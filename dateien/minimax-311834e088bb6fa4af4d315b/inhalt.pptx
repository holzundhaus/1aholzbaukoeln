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koeln/anbau-oder-aufstockung-gegenueberstellung/" TargetMode="External"/><Relationship Id="rId3" Type="http://schemas.openxmlformats.org/officeDocument/2006/relationships/hyperlink" Target="https://holzundhaus.github.io/1aholzbaukoeln/dateien/minimax-311834e088bb6fa4af4d315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oder Aufstockung: Gegenüberstellung vor der Detailplanung · Erklärende Präsentation</a:t>
            </a:r>
          </a:p>
        </p:txBody>
      </p:sp>
      <p:sp>
        <p:nvSpPr>
          <p:cNvPr id="3" name="Content Placeholder 2"/>
          <p:cNvSpPr>
            <a:spLocks noGrp="1"/>
          </p:cNvSpPr>
          <p:nvPr>
            <p:ph idx="1"/>
          </p:nvPr>
        </p:nvSpPr>
        <p:spPr/>
        <p:txBody>
          <a:bodyPr/>
          <a:lstStyle/>
          <a:p>
            <a:r>
              <a:t>Überblick: Wer dem Haus zusätzliche Fläche geben möchte, steht schnell vor einer Grundsatzfrage: Ist ein Anbau oder eine Aufstockung die passendere Richtung? Beide Varianten erweitern den Bestand, greifen aber unterschiedlich in Grundstück, Tragwerk und Erschließung ein. Der folgende Leitfaden hilft, Ziel, Bestand und offene Punkte zu ordnen, bevor Detailplanungen oder Angebote beauftragt werden. Die konkrete Gegenüberstellung bietet dabei einen ersten fachlichen Anhaltspunkt, ersetzt jedoch weder eine statische Prüfung noch die Beurteilung des individuellen Baurechts.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und Aufstockung unterschiedlich einordnen</a:t>
            </a:r>
          </a:p>
        </p:txBody>
      </p:sp>
      <p:sp>
        <p:nvSpPr>
          <p:cNvPr id="3" name="Content Placeholder 2"/>
          <p:cNvSpPr>
            <a:spLocks noGrp="1"/>
          </p:cNvSpPr>
          <p:nvPr>
            <p:ph idx="1"/>
          </p:nvPr>
        </p:nvSpPr>
        <p:spPr/>
        <p:txBody>
          <a:bodyPr/>
          <a:lstStyle/>
          <a:p>
            <a:pPr>
              <a:defRPr sz="1800"/>
            </a:pPr>
            <a:r>
              <a:t>Ein Anbau erweitert das Gebäude in seitlicher oder anderer räumlicher Richtung und benötigt dafür nutzbare Fläche auf dem Grundstück. Zu prüfen sind Grundstücksgrenzen, Abstände zur Nachbarbebauung, die Erschließung der Baustelle sowie der spätere Zugang zum Bestand. Leitungen im Boden, Anschlusshöhen und die erforderliche Zufahrt für Material und Gerüst können die Machbarkeit beeinflussen. Eine Aufstockung nutzt dagegen die vorhandene Grundfläche und schafft neue Fläche nach oben. Das Grundstück wird dadurch nicht zusätzlich in Anspruch genommen. Die zentrale Frage lautet daher nicht nur, welches Ergebnis gewünscht ist, sondern auch, welche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und Aufstockung unterschiedlich einordnen</a:t>
            </a:r>
          </a:p>
        </p:txBody>
      </p:sp>
      <p:sp>
        <p:nvSpPr>
          <p:cNvPr id="3" name="Content Placeholder 2"/>
          <p:cNvSpPr>
            <a:spLocks noGrp="1"/>
          </p:cNvSpPr>
          <p:nvPr>
            <p:ph idx="1"/>
          </p:nvPr>
        </p:nvSpPr>
        <p:spPr/>
        <p:txBody>
          <a:bodyPr/>
          <a:lstStyle/>
          <a:p>
            <a:pPr>
              <a:defRPr sz="1800"/>
            </a:pPr>
            <a:r>
              <a:t>Flächen, Eingriffe und Nachweise im Bestand vorhanden beziehungsweise möglich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Anschlüsse als frühe Prüfpunkte</a:t>
            </a:r>
          </a:p>
        </p:txBody>
      </p:sp>
      <p:sp>
        <p:nvSpPr>
          <p:cNvPr id="3" name="Content Placeholder 2"/>
          <p:cNvSpPr>
            <a:spLocks noGrp="1"/>
          </p:cNvSpPr>
          <p:nvPr>
            <p:ph idx="1"/>
          </p:nvPr>
        </p:nvSpPr>
        <p:spPr/>
        <p:txBody>
          <a:bodyPr/>
          <a:lstStyle/>
          <a:p>
            <a:pPr>
              <a:defRPr sz="1800"/>
            </a:pPr>
            <a:r>
              <a:t>Bei einem Anbau wird die neue Konstruktion in der Regel auf einer eigenen Gründung errichtet und kann konstruktiv vom Bestand getrennt werden. Der sensiblere Bereich liegt vor allem an der Anschlussfuge: Dort treffen neue Wand, Bodenplatte und Dach auf das vorhandene Gebäude. Diese Übergänge müssen statisch und bauphysikalisch sorgfältig geplant werden. Bei einer Aufstockung wirken die zusätzlichen Lasten unmittelbar auf Wände, Decken, Gründung und bestehende Dachkonstruktion. Auch eine leichte Bauweise ersetzt keinen Nachweis der vorhandenen Tragfähigkeit. Parallel ist die Erschließung zu klären. Eine neue Treppe, ein Aufzug oder eine Anpass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Anschlüsse als frühe Prüfpunkte</a:t>
            </a:r>
          </a:p>
        </p:txBody>
      </p:sp>
      <p:sp>
        <p:nvSpPr>
          <p:cNvPr id="3" name="Content Placeholder 2"/>
          <p:cNvSpPr>
            <a:spLocks noGrp="1"/>
          </p:cNvSpPr>
          <p:nvPr>
            <p:ph idx="1"/>
          </p:nvPr>
        </p:nvSpPr>
        <p:spPr/>
        <p:txBody>
          <a:bodyPr/>
          <a:lstStyle/>
          <a:p>
            <a:pPr>
              <a:defRPr sz="1800"/>
            </a:pPr>
            <a:r>
              <a:t>ung der bestehenden Erschließung können einen deutlich größeren Eingriff in das Gebäude erzeugen, als es bei einem ebenerdig angeschlossenen Anbau der Fall ist. Eine früh geklärte Tragwerks- und Erschließungsfrage verhindert spätere Umplanungen.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frühzeitig, aber nicht pauschal bewerten</a:t>
            </a:r>
          </a:p>
        </p:txBody>
      </p:sp>
      <p:sp>
        <p:nvSpPr>
          <p:cNvPr id="3" name="Content Placeholder 2"/>
          <p:cNvSpPr>
            <a:spLocks noGrp="1"/>
          </p:cNvSpPr>
          <p:nvPr>
            <p:ph idx="1"/>
          </p:nvPr>
        </p:nvSpPr>
        <p:spPr/>
        <p:txBody>
          <a:bodyPr/>
          <a:lstStyle/>
          <a:p>
            <a:pPr>
              <a:defRPr sz="1800"/>
            </a:pPr>
            <a:r>
              <a:t>Ob ein Vorhang genehmigungspflichtig ist oder verfahrensfrei umgesetzt werden darf, hängt vom jeweiligen Vorhaben ab. Auch bei einem verfahrensfreien Vorhaben müssen die geltenden Anforderungen eingehalten werden. Für beide Varianten sind insbesondere Abstandsflächen, Brandschutz und die vorgesehene Nutzung eigenständig zu prüfen. Relevant kann außerdem sein, ob durch den Eingriff eine Nutzungsänderung berührt wird. Die erforderlichen Informationen lassen sich beim zuständigen Bauamt oder über die [Gegenüberstellung von Anbau und Aufstockung] mit dem konkreten Vorhaben abgleichen. Dabei sollten Lage, Größe, Bestand und geplante Nutzung getren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frühzeitig, aber nicht pauschal bewerten</a:t>
            </a:r>
          </a:p>
        </p:txBody>
      </p:sp>
      <p:sp>
        <p:nvSpPr>
          <p:cNvPr id="3" name="Content Placeholder 2"/>
          <p:cNvSpPr>
            <a:spLocks noGrp="1"/>
          </p:cNvSpPr>
          <p:nvPr>
            <p:ph idx="1"/>
          </p:nvPr>
        </p:nvSpPr>
        <p:spPr/>
        <p:txBody>
          <a:bodyPr/>
          <a:lstStyle/>
          <a:p>
            <a:pPr>
              <a:defRPr sz="1800"/>
            </a:pPr>
            <a:r>
              <a:t>nt dargestellt werden. So können offene Fragen früh erkannt werden, ohne einen unzutreffenden Genehmigungsstatus zu unterstellen.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 anhand desselben Leistungsumfangs vergleichen</a:t>
            </a:r>
          </a:p>
        </p:txBody>
      </p:sp>
      <p:sp>
        <p:nvSpPr>
          <p:cNvPr id="3" name="Content Placeholder 2"/>
          <p:cNvSpPr>
            <a:spLocks noGrp="1"/>
          </p:cNvSpPr>
          <p:nvPr>
            <p:ph idx="1"/>
          </p:nvPr>
        </p:nvSpPr>
        <p:spPr/>
        <p:txBody>
          <a:bodyPr/>
          <a:lstStyle/>
          <a:p>
            <a:pPr>
              <a:defRPr sz="1800"/>
            </a:pPr>
            <a:r>
              <a:t>Ein belastbarer Kostenvergleich setzt vergleichbare Angebote voraus. Beim Anbau verteilen sich die Kosten unter anderem auf Gründung, neue Hülle, Anschlussdetails und Eingriffe in das bestehende Gebäude. Bei einer Aufstockung entfällt eine separate Gründung weitgehend, während Tragfähigkeitsprüfung, Eingriffe in Dach- und Deckenkonstruktion sowie die Erschließung stärker ins Gewicht fallen. In Angeboten sollte deshalb genau benannt werden, ob Vorarbeiten, Anschlüsse, Oberflächen und Entsorgungsleistungen enthalten sind. Auch der Umgang mit vorhandenen Bauteilen und möglichen Behinderungen muss transparent sein. Ohne einen einheitlichen Leistu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 anhand desselben Leistungsumfangs vergleichen</a:t>
            </a:r>
          </a:p>
        </p:txBody>
      </p:sp>
      <p:sp>
        <p:nvSpPr>
          <p:cNvPr id="3" name="Content Placeholder 2"/>
          <p:cNvSpPr>
            <a:spLocks noGrp="1"/>
          </p:cNvSpPr>
          <p:nvPr>
            <p:ph idx="1"/>
          </p:nvPr>
        </p:nvSpPr>
        <p:spPr/>
        <p:txBody>
          <a:bodyPr/>
          <a:lstStyle/>
          <a:p>
            <a:pPr>
              <a:defRPr sz="1800"/>
            </a:pPr>
            <a:r>
              <a:t>ngsumfang lassen unterschiedliche Preise nicht erkennen, ob eine Variante tatsächlich wirtschaftlicher ist. Die [passende Fachinformation für Anbau oder Aufstockung] kann als Checkliste für die Anfrage dienen.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wenigen Fragen eine belastbare Ausgangslage schaffen</a:t>
            </a:r>
          </a:p>
        </p:txBody>
      </p:sp>
      <p:sp>
        <p:nvSpPr>
          <p:cNvPr id="3" name="Content Placeholder 2"/>
          <p:cNvSpPr>
            <a:spLocks noGrp="1"/>
          </p:cNvSpPr>
          <p:nvPr>
            <p:ph idx="1"/>
          </p:nvPr>
        </p:nvSpPr>
        <p:spPr/>
        <p:txBody>
          <a:bodyPr/>
          <a:lstStyle/>
          <a:p>
            <a:pPr>
              <a:defRPr sz="1800"/>
            </a:pPr>
            <a:r>
              <a:t>Für die erste Entscheidung genügt eine strukturierte Bestandsaufnahme. Ist neben dem Haus ausreichend Fläche vorhanden und lassen sich Grundstücks- sowie baurechtliche Fragen klären, spricht dieser Befund zunächst für die Prüfung eines Anbaus. Reicht die vorhandene Grundfläche für den gewünschten Flächenzuwachs und erscheinen Tragwerk und Gründung geeignet, kommt eine Aufstockung infrage. Unabhängig davon sollte geklärt werden, wie das neue Geschoss erschlossen wird und welche Nutzung dort geplant ist. Hilfreich für die weitere Beratung sind der Standort, ungefähre Maße, vorhandene Pläne und der aktuelle Planungsstand. Damit lassen sich Ziel,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wenigen Fragen eine belastbare Ausgangslage schaffen</a:t>
            </a:r>
          </a:p>
        </p:txBody>
      </p:sp>
      <p:sp>
        <p:nvSpPr>
          <p:cNvPr id="3" name="Content Placeholder 2"/>
          <p:cNvSpPr>
            <a:spLocks noGrp="1"/>
          </p:cNvSpPr>
          <p:nvPr>
            <p:ph idx="1"/>
          </p:nvPr>
        </p:nvSpPr>
        <p:spPr/>
        <p:txBody>
          <a:bodyPr/>
          <a:lstStyle/>
          <a:p>
            <a:pPr>
              <a:defRPr sz="1800"/>
            </a:pPr>
            <a:r>
              <a:t> Ausgangslage und offene Punkte unterscheiden und gezielte Fragen an Fachplanende oder ausführende Betriebe formulieren.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Anbau oder Aufstockung: Gegenüberstellung vor der Detailplanung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