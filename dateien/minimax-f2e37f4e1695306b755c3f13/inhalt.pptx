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koeln.wordpress.com/2026/10/25/dachsanierung-daemmlagen-und-anschlussdetails/" TargetMode="External"/><Relationship Id="rId3" Type="http://schemas.openxmlformats.org/officeDocument/2006/relationships/hyperlink" Target="https://holzundhaus.github.io/1aholzbaukoeln/dateien/minimax-f2e37f4e1695306b755c3f1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Dachsanierung: Dämmlagen und Anschlussdetails im Zusammenspiel · Erklärende Präsentation</a:t>
            </a:r>
          </a:p>
        </p:txBody>
      </p:sp>
      <p:sp>
        <p:nvSpPr>
          <p:cNvPr id="3" name="Content Placeholder 2"/>
          <p:cNvSpPr>
            <a:spLocks noGrp="1"/>
          </p:cNvSpPr>
          <p:nvPr>
            <p:ph idx="1"/>
          </p:nvPr>
        </p:nvSpPr>
        <p:spPr/>
        <p:txBody>
          <a:bodyPr/>
          <a:lstStyle/>
          <a:p>
            <a:r>
              <a:t>Überblick: Bei einer Dachsanierung wirkt die Dämmung nicht für sich allein, sondern entsteht ihre technische Wirkung erst im Zusammenspiel mit luftdichter Ebene, Feuchteschutz, Holzschutz und den Anschlüssen am Dach. Für die Planung ist deshalb entscheidend, welche Dämmlage zum vorhandenen Dach passt und wie die Übergänge zu Fenster, Traufe, Giebel, Schornstein und weiteren Durchdringungen ausgeführt werden. Der folgende Leitfaden hilft, die zentralen Fragen vor der Detailplanung zu ordnen, ohne pauschal eine Lösung für jedes Dach vorzugeben.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Dämmlage am Bestand ausrichten</a:t>
            </a:r>
          </a:p>
        </p:txBody>
      </p:sp>
      <p:sp>
        <p:nvSpPr>
          <p:cNvPr id="3" name="Content Placeholder 2"/>
          <p:cNvSpPr>
            <a:spLocks noGrp="1"/>
          </p:cNvSpPr>
          <p:nvPr>
            <p:ph idx="1"/>
          </p:nvPr>
        </p:nvSpPr>
        <p:spPr/>
        <p:txBody>
          <a:bodyPr/>
          <a:lstStyle/>
          <a:p>
            <a:pPr>
              <a:defRPr sz="1800"/>
            </a:pPr>
            <a:r>
              <a:t>Die Wahl der Dämmlage beginnt mit der vorhandenen Konstruktion. Die Zwischensparrendämmung nutzt die vorhandene Sparrenhöhe und kann häufig ohne größere Veränderungen an der Dachhaut umgesetzt werden. Sie setzt jedoch eine intakte, luftdichte Ebene auf der Raumseite voraus. Ist die Sparrentiefe begrenzt, reicht diese Dämmlage allein möglicherweise nicht aus, um einen ausreichenden Wärmeschutz zu erzielen. Als Ergänzung kann eine Untersparrendämmung unter den Sparren angeordnet werden. Sie verbessert die Dämmwirkung und unterstützt die raumseitige Luftdichtheit, verringert aber die lichte Raumhöhe im Dachgeschoss. Die Aufsparrendämmung liegt 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Dämmlage am Bestand ausrichten</a:t>
            </a:r>
          </a:p>
        </p:txBody>
      </p:sp>
      <p:sp>
        <p:nvSpPr>
          <p:cNvPr id="3" name="Content Placeholder 2"/>
          <p:cNvSpPr>
            <a:spLocks noGrp="1"/>
          </p:cNvSpPr>
          <p:nvPr>
            <p:ph idx="1"/>
          </p:nvPr>
        </p:nvSpPr>
        <p:spPr/>
        <p:txBody>
          <a:bodyPr/>
          <a:lstStyle/>
          <a:p>
            <a:pPr>
              <a:defRPr sz="1800"/>
            </a:pPr>
            <a:r>
              <a:t>berhalb der Sparren und bildet einen durchgehenden Dämmaufbau über die Dachfläche. Dadurch werden Wärmebrücken im Sparrenbereich vermieden. Sie ist besonders interessant, wenn das Dach ohnehin neu eingedeckt wird oder die vorhandene Sparrenhöhe nicht ausreicht. Der Aufwand ist in der Regel höher, weil Dachhaut und Aufbau neu hergestellt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entscheiden über die Funktion der Dämmung</a:t>
            </a:r>
          </a:p>
        </p:txBody>
      </p:sp>
      <p:sp>
        <p:nvSpPr>
          <p:cNvPr id="3" name="Content Placeholder 2"/>
          <p:cNvSpPr>
            <a:spLocks noGrp="1"/>
          </p:cNvSpPr>
          <p:nvPr>
            <p:ph idx="1"/>
          </p:nvPr>
        </p:nvSpPr>
        <p:spPr/>
        <p:txBody>
          <a:bodyPr/>
          <a:lstStyle/>
          <a:p>
            <a:pPr>
              <a:defRPr sz="1800"/>
            </a:pPr>
            <a:r>
              <a:t>Eine Dämmung wirkt nur dann zuverlässig, wenn sie ohne größere Lücken in die angrenzenden Bauteile übergeht. Am Dachflächenfenster müssen Anschlussrahmen, Dämmebene und raumseitige Luftdichtheit zusammenpassen. Wird die Dämmung oberhalb der Sparren ergänzt, ist die Höhe des Fensteranschlusses entsprechend abzustimmen. An der Traufe treffen Dämmung, Unterdach, Winddichtheit, Dachrinne und Außenwand aufeinander. Die Wasserführung muss so funktionieren, dass Feuchtigkeit nicht in die Konstruktion gelangt und Wärmebrücken nicht entstehen. Am Giebel steht vor allem der Anschluss der Dämmung an die Außenwand im Mittelpunkt. Schornsteine, Lüftungsro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entscheiden über die Funktion der Dämmung</a:t>
            </a:r>
          </a:p>
        </p:txBody>
      </p:sp>
      <p:sp>
        <p:nvSpPr>
          <p:cNvPr id="3" name="Content Placeholder 2"/>
          <p:cNvSpPr>
            <a:spLocks noGrp="1"/>
          </p:cNvSpPr>
          <p:nvPr>
            <p:ph idx="1"/>
          </p:nvPr>
        </p:nvSpPr>
        <p:spPr/>
        <p:txBody>
          <a:bodyPr/>
          <a:lstStyle/>
          <a:p>
            <a:pPr>
              <a:defRPr sz="1800"/>
            </a:pPr>
            <a:r>
              <a:t>hre und andere Durchdringungen durchstoßen Dämm- und Luftdichtheitsebene und benötigen eine saubere, umlaufende Anbindung. Beim Schornstein sind zusätzlich brandschutztechnische Abstände zu berücksichtigen. Details sollten deshalb vor der Montage abgestimmt und nicht erst während der Ausführung improvisiert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Feuchteschutz und Holzschutz unterscheiden</a:t>
            </a:r>
          </a:p>
        </p:txBody>
      </p:sp>
      <p:sp>
        <p:nvSpPr>
          <p:cNvPr id="3" name="Content Placeholder 2"/>
          <p:cNvSpPr>
            <a:spLocks noGrp="1"/>
          </p:cNvSpPr>
          <p:nvPr>
            <p:ph idx="1"/>
          </p:nvPr>
        </p:nvSpPr>
        <p:spPr/>
        <p:txBody>
          <a:bodyPr/>
          <a:lstStyle/>
          <a:p>
            <a:pPr>
              <a:defRPr sz="1800"/>
            </a:pPr>
            <a:r>
              <a:t>Die drei Schutzebenen erfüllen unterschiedliche Aufgaben und sollten nicht miteinander gleichgesetzt werden. Wärmeschutz betrifft den Wärmeverlust durch den Bauteilaufbau. Feuchteschutz betrifft den Umgang mit Feuchtigkeit von außen und innen; dazu gehören die raumseitige luftdichte Ebene und das Unterdach. Konstruktiver Holzschutz sorgt dafür, dass eingedrungene Feuchtigkeit wieder austrocknen kann. Dafür sind belüftete Aufbauten, ausreichend dimensionierte Hohlräume und Anschlüsse wichtig, die Wasser vom Holz wegführen. Eine gute Dämmung allein schützt das Holz daher nicht vollständig, wenn Feuchteschutz und Trocknungsmöglichkeiten nicht mi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Feuchteschutz und Holzschutz unterscheiden</a:t>
            </a:r>
          </a:p>
        </p:txBody>
      </p:sp>
      <p:sp>
        <p:nvSpPr>
          <p:cNvPr id="3" name="Content Placeholder 2"/>
          <p:cNvSpPr>
            <a:spLocks noGrp="1"/>
          </p:cNvSpPr>
          <p:nvPr>
            <p:ph idx="1"/>
          </p:nvPr>
        </p:nvSpPr>
        <p:spPr/>
        <p:txBody>
          <a:bodyPr/>
          <a:lstStyle/>
          <a:p>
            <a:pPr>
              <a:defRPr sz="1800"/>
            </a:pPr>
            <a:r>
              <a:t>tgedacht werden. Bei der Bestandsaufnahme sollten neben dem sichtbaren Zustand der Holzkonstruktion auch Hinweise auf frühere Feuchteereignisse, die Sparrenhöhe und eine mögliche künftige Nutzungsänderung berücksichtigt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frühzeitig auf ein Gesamtkonzept abstimmen</a:t>
            </a:r>
          </a:p>
        </p:txBody>
      </p:sp>
      <p:sp>
        <p:nvSpPr>
          <p:cNvPr id="3" name="Content Placeholder 2"/>
          <p:cNvSpPr>
            <a:spLocks noGrp="1"/>
          </p:cNvSpPr>
          <p:nvPr>
            <p:ph idx="1"/>
          </p:nvPr>
        </p:nvSpPr>
        <p:spPr/>
        <p:txBody>
          <a:bodyPr/>
          <a:lstStyle/>
          <a:p>
            <a:pPr>
              <a:defRPr sz="1800"/>
            </a:pPr>
            <a:r>
              <a:t>Dachsanierungen betreffen häufig Zimmerarbeiten, Dachdeckerarbeiten, Fensterbau und sometimes Innenausbau. Für belastbare Anschlüsse benötigen diese Beteiligten ein gemeinsames Verständnis des geplanten Aufbaus. Die Abstimmung sollte klären, wo die Dämmebene verläuft, wie die Luftdichtheit an Übergängen hergestellt wird und wie Feuchte kontrolliert abgeführt wird. Erst danach lassen sich konkrete Ausführungsmaße und Materialmengen sinnvoll festlegen. Weitere Orientierung bietet der Beitrag „Dachsanierung: Dämmlagen und Anschlussdetails im Zusammenspiel“. Für die vertiefte Vorbereitung der Planung ist außerdem der passende Beitrag zur Dachsani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frühzeitig auf ein Gesamtkonzept abstimmen</a:t>
            </a:r>
          </a:p>
        </p:txBody>
      </p:sp>
      <p:sp>
        <p:nvSpPr>
          <p:cNvPr id="3" name="Content Placeholder 2"/>
          <p:cNvSpPr>
            <a:spLocks noGrp="1"/>
          </p:cNvSpPr>
          <p:nvPr>
            <p:ph idx="1"/>
          </p:nvPr>
        </p:nvSpPr>
        <p:spPr/>
        <p:txBody>
          <a:bodyPr/>
          <a:lstStyle/>
          <a:p>
            <a:pPr>
              <a:defRPr sz="1800"/>
            </a:pPr>
            <a:r>
              <a:t>erung hilfreich, insbesondere wenn Dämmung, Anschlussdetails und Holzschutz gemeinsam betrachtet werden sollen.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Dachsanierung: Dämmlagen und Anschlussdetails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